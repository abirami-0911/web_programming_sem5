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818120" y="0"/>
            <a:ext cx="4370832" cy="6858000"/>
          </a:xfrm>
          <a:prstGeom prst="rect">
            <a:avLst/>
          </a:prstGeom>
          <a:solidFill>
            <a:srgbClr val="376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458200" y="914400"/>
            <a:ext cx="1143000" cy="1143000"/>
          </a:xfrm>
          <a:prstGeom prst="ellipse">
            <a:avLst/>
          </a:prstGeom>
          <a:solidFill>
            <a:srgbClr val="AEB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646920" y="1600200"/>
            <a:ext cx="1417320" cy="1417320"/>
          </a:xfrm>
          <a:prstGeom prst="ellipse">
            <a:avLst/>
          </a:prstGeom>
          <a:solidFill>
            <a:srgbClr val="E8DD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778240" y="2743200"/>
            <a:ext cx="1737360" cy="1737360"/>
          </a:xfrm>
          <a:prstGeom prst="ellipse">
            <a:avLst/>
          </a:prstGeom>
          <a:solidFill>
            <a:srgbClr val="C36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104120" y="3703320"/>
            <a:ext cx="1234440" cy="1234440"/>
          </a:xfrm>
          <a:prstGeom prst="ellipse">
            <a:avLst/>
          </a:prstGeom>
          <a:solidFill>
            <a:srgbClr val="AEB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" name="Connector 6"/>
          <p:cNvCxnSpPr/>
          <p:nvPr/>
        </p:nvCxnSpPr>
        <p:spPr>
          <a:xfrm>
            <a:off x="8961120" y="1554480"/>
            <a:ext cx="1371600" cy="457200"/>
          </a:xfrm>
          <a:prstGeom prst="line">
            <a:avLst/>
          </a:prstGeom>
          <a:ln w="15240">
            <a:solidFill>
              <a:srgbClr val="FFFF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235440" y="3474720"/>
            <a:ext cx="1280160" cy="822960"/>
          </a:xfrm>
          <a:prstGeom prst="line">
            <a:avLst/>
          </a:prstGeom>
          <a:ln w="15240">
            <a:solidFill>
              <a:srgbClr val="FFFF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9509760" y="2286000"/>
            <a:ext cx="91440" cy="1371600"/>
          </a:xfrm>
          <a:prstGeom prst="line">
            <a:avLst/>
          </a:prstGeom>
          <a:ln w="15240">
            <a:solidFill>
              <a:srgbClr val="FFFF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77240" y="868680"/>
            <a:ext cx="6217920" cy="310854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l">
              <a:spcAft>
                <a:spcPts val="700"/>
              </a:spcAft>
              <a:defRPr sz="1300" b="1">
                <a:solidFill>
                  <a:srgbClr val="C3694E"/>
                </a:solidFill>
                <a:latin typeface="Aptos"/>
              </a:defRPr>
            </a:pPr>
            <a:r>
              <a:rPr lang="en-US" sz="1600" dirty="0"/>
              <a:t>WEB PROGRAMMING PROJECT:</a:t>
            </a:r>
            <a:endParaRPr sz="1600" dirty="0"/>
          </a:p>
        </p:txBody>
      </p:sp>
      <p:sp>
        <p:nvSpPr>
          <p:cNvPr id="11" name="TextBox 10"/>
          <p:cNvSpPr txBox="1"/>
          <p:nvPr/>
        </p:nvSpPr>
        <p:spPr>
          <a:xfrm>
            <a:off x="749808" y="1645920"/>
            <a:ext cx="6583680" cy="664797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l">
              <a:spcAft>
                <a:spcPts val="700"/>
              </a:spcAft>
              <a:defRPr sz="3900" b="1">
                <a:solidFill>
                  <a:srgbClr val="22302B"/>
                </a:solidFill>
                <a:latin typeface="Aptos"/>
              </a:defRPr>
            </a:pPr>
            <a:r>
              <a:rPr lang="en-IN" dirty="0"/>
              <a:t>Dear Future 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3703320"/>
            <a:ext cx="6126480" cy="59436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l">
              <a:spcAft>
                <a:spcPts val="700"/>
              </a:spcAft>
              <a:defRPr sz="2500" b="1">
                <a:solidFill>
                  <a:srgbClr val="37604D"/>
                </a:solidFill>
                <a:latin typeface="Aptos"/>
              </a:defRPr>
            </a:pPr>
            <a:r>
              <a:rPr dirty="0"/>
              <a:t>The Memory Universe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526280"/>
            <a:ext cx="5943600" cy="86868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l">
              <a:spcAft>
                <a:spcPts val="700"/>
              </a:spcAft>
              <a:defRPr sz="1700" b="0">
                <a:solidFill>
                  <a:srgbClr val="666C63"/>
                </a:solidFill>
                <a:latin typeface="Aptos"/>
              </a:defRPr>
            </a:pPr>
            <a:r>
              <a:t>A digital space for memories, daily reflection,</a:t>
            </a:r>
          </a:p>
          <a:p>
            <a:pPr algn="l">
              <a:spcAft>
                <a:spcPts val="700"/>
              </a:spcAft>
              <a:defRPr sz="1700" b="0">
                <a:solidFill>
                  <a:srgbClr val="666C63"/>
                </a:solidFill>
                <a:latin typeface="Aptos"/>
              </a:defRPr>
            </a:pPr>
            <a:r>
              <a:t>and letters to the person we hope to become.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715000"/>
            <a:ext cx="6217920" cy="310854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l">
              <a:spcAft>
                <a:spcPts val="700"/>
              </a:spcAft>
              <a:defRPr sz="1100" b="0">
                <a:solidFill>
                  <a:srgbClr val="22302B"/>
                </a:solidFill>
                <a:latin typeface="Aptos"/>
              </a:defRPr>
            </a:pPr>
            <a:r>
              <a:rPr sz="1600" dirty="0"/>
              <a:t>Presented by: </a:t>
            </a:r>
            <a:r>
              <a:rPr lang="en-US" sz="1600" dirty="0"/>
              <a:t>ABIRAMI L 240701010</a:t>
            </a:r>
            <a:endParaRPr sz="1600" dirty="0"/>
          </a:p>
        </p:txBody>
      </p:sp>
      <p:sp>
        <p:nvSpPr>
          <p:cNvPr id="15" name="TextBox 14"/>
          <p:cNvSpPr txBox="1"/>
          <p:nvPr/>
        </p:nvSpPr>
        <p:spPr>
          <a:xfrm>
            <a:off x="822960" y="6080760"/>
            <a:ext cx="6217920" cy="23391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l">
              <a:spcAft>
                <a:spcPts val="700"/>
              </a:spcAft>
              <a:defRPr sz="1100" b="0">
                <a:solidFill>
                  <a:srgbClr val="22302B"/>
                </a:solidFill>
                <a:latin typeface="Aptos"/>
              </a:defRPr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789920" cy="50292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l">
              <a:spcAft>
                <a:spcPts val="700"/>
              </a:spcAft>
              <a:defRPr sz="2700" b="1">
                <a:solidFill>
                  <a:srgbClr val="37604D"/>
                </a:solidFill>
                <a:latin typeface="Aptos"/>
              </a:defRPr>
            </a:pPr>
            <a:r>
              <a:t>Abstract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68680"/>
            <a:ext cx="10515600" cy="32004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l">
              <a:spcAft>
                <a:spcPts val="700"/>
              </a:spcAft>
              <a:defRPr sz="1200" b="0">
                <a:solidFill>
                  <a:srgbClr val="666C63"/>
                </a:solidFill>
                <a:latin typeface="Aptos"/>
              </a:defRPr>
            </a:pPr>
            <a:r>
              <a:t>A short overview of the project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92840" y="384048"/>
            <a:ext cx="320040" cy="73152"/>
          </a:xfrm>
          <a:prstGeom prst="rect">
            <a:avLst/>
          </a:prstGeom>
          <a:solidFill>
            <a:srgbClr val="C36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92840" y="6382512"/>
            <a:ext cx="411480" cy="22860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666C63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554480"/>
            <a:ext cx="3017520" cy="3323923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l">
              <a:lnSpc>
                <a:spcPct val="150000"/>
              </a:lnSpc>
              <a:spcAft>
                <a:spcPts val="700"/>
              </a:spcAft>
              <a:defRPr sz="2800" b="1">
                <a:solidFill>
                  <a:srgbClr val="C3694E"/>
                </a:solidFill>
                <a:latin typeface="Aptos"/>
              </a:defRPr>
            </a:pPr>
            <a:r>
              <a:rPr dirty="0"/>
              <a:t>“A small space to</a:t>
            </a:r>
          </a:p>
          <a:p>
            <a:pPr algn="l">
              <a:lnSpc>
                <a:spcPct val="150000"/>
              </a:lnSpc>
              <a:spcAft>
                <a:spcPts val="700"/>
              </a:spcAft>
              <a:defRPr sz="2800" b="1">
                <a:solidFill>
                  <a:srgbClr val="C3694E"/>
                </a:solidFill>
                <a:latin typeface="Aptos"/>
              </a:defRPr>
            </a:pPr>
            <a:r>
              <a:rPr dirty="0"/>
              <a:t>remember who we</a:t>
            </a:r>
            <a:r>
              <a:rPr lang="en-US" dirty="0"/>
              <a:t> </a:t>
            </a:r>
            <a:r>
              <a:rPr dirty="0"/>
              <a:t>are, and who we</a:t>
            </a:r>
            <a:r>
              <a:rPr lang="en-US" dirty="0"/>
              <a:t> </a:t>
            </a:r>
            <a:r>
              <a:rPr dirty="0"/>
              <a:t>hope to become.”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645920"/>
            <a:ext cx="7132320" cy="237744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l">
              <a:spcAft>
                <a:spcPts val="700"/>
              </a:spcAft>
              <a:defRPr sz="2000" b="0">
                <a:solidFill>
                  <a:srgbClr val="22302B"/>
                </a:solidFill>
                <a:latin typeface="Aptos"/>
              </a:defRPr>
            </a:pPr>
            <a:r>
              <a:t>Dear Future Me — The Memory Universe is a frontend web application designed to help users record meaningful moments, express emotions, and communicate with their future selves. It brings together a memory collection, daily diary, time-capsule letters, and future-self quiz in one personal space.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60520" y="4343400"/>
            <a:ext cx="2057400" cy="1143000"/>
          </a:xfrm>
          <a:prstGeom prst="roundRect">
            <a:avLst/>
          </a:prstGeom>
          <a:solidFill>
            <a:srgbClr val="FFFFFC"/>
          </a:solidFill>
          <a:ln w="12700">
            <a:solidFill>
              <a:srgbClr val="E8DD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25112" y="4544568"/>
            <a:ext cx="73152" cy="347472"/>
          </a:xfrm>
          <a:prstGeom prst="rect">
            <a:avLst/>
          </a:prstGeom>
          <a:solidFill>
            <a:srgbClr val="376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07992" y="4507992"/>
            <a:ext cx="1527048" cy="41148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l">
              <a:spcAft>
                <a:spcPts val="700"/>
              </a:spcAft>
              <a:defRPr sz="1600" b="1">
                <a:solidFill>
                  <a:srgbClr val="37604D"/>
                </a:solidFill>
                <a:latin typeface="Aptos"/>
              </a:defRPr>
            </a:pPr>
            <a:r>
              <a:t>PURPOSE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61688" y="5056632"/>
            <a:ext cx="1655064" cy="32004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l">
              <a:spcAft>
                <a:spcPts val="700"/>
              </a:spcAft>
              <a:defRPr sz="1300" b="0">
                <a:solidFill>
                  <a:srgbClr val="22302B"/>
                </a:solidFill>
                <a:latin typeface="Aptos"/>
              </a:defRPr>
            </a:pPr>
            <a:r>
              <a:t>Support self-reflection.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4343400"/>
            <a:ext cx="2057400" cy="1143000"/>
          </a:xfrm>
          <a:prstGeom prst="roundRect">
            <a:avLst/>
          </a:prstGeom>
          <a:solidFill>
            <a:srgbClr val="FFFFFC"/>
          </a:solidFill>
          <a:ln w="12700">
            <a:solidFill>
              <a:srgbClr val="E8DD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565392" y="4544568"/>
            <a:ext cx="73152" cy="347472"/>
          </a:xfrm>
          <a:prstGeom prst="rect">
            <a:avLst/>
          </a:prstGeom>
          <a:solidFill>
            <a:srgbClr val="C36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48272" y="4507992"/>
            <a:ext cx="1527048" cy="41148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l">
              <a:spcAft>
                <a:spcPts val="700"/>
              </a:spcAft>
              <a:defRPr sz="1600" b="1">
                <a:solidFill>
                  <a:srgbClr val="C3694E"/>
                </a:solidFill>
                <a:latin typeface="Aptos"/>
              </a:defRPr>
            </a:pPr>
            <a:r>
              <a:t>PLATFORM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01968" y="5056632"/>
            <a:ext cx="1655064" cy="32004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l">
              <a:spcAft>
                <a:spcPts val="700"/>
              </a:spcAft>
              <a:defRPr sz="1300" b="0">
                <a:solidFill>
                  <a:srgbClr val="22302B"/>
                </a:solidFill>
                <a:latin typeface="Aptos"/>
              </a:defRPr>
            </a:pPr>
            <a:r>
              <a:t>Browser-based app.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41080" y="4343400"/>
            <a:ext cx="2331720" cy="1143000"/>
          </a:xfrm>
          <a:prstGeom prst="roundRect">
            <a:avLst/>
          </a:prstGeom>
          <a:solidFill>
            <a:srgbClr val="FFFFFC"/>
          </a:solidFill>
          <a:ln w="12700">
            <a:solidFill>
              <a:srgbClr val="E8DD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805672" y="4544568"/>
            <a:ext cx="73152" cy="347472"/>
          </a:xfrm>
          <a:prstGeom prst="rect">
            <a:avLst/>
          </a:prstGeom>
          <a:solidFill>
            <a:srgbClr val="AEB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988552" y="4507992"/>
            <a:ext cx="1801367" cy="41148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l">
              <a:spcAft>
                <a:spcPts val="700"/>
              </a:spcAft>
              <a:defRPr sz="1600" b="1">
                <a:solidFill>
                  <a:srgbClr val="AEBEA3"/>
                </a:solidFill>
                <a:latin typeface="Aptos"/>
              </a:defRPr>
            </a:pPr>
            <a:r>
              <a:t>STORAGE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2248" y="5056632"/>
            <a:ext cx="1929384" cy="32004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l">
              <a:spcAft>
                <a:spcPts val="700"/>
              </a:spcAft>
              <a:defRPr sz="1300" b="0">
                <a:solidFill>
                  <a:srgbClr val="22302B"/>
                </a:solidFill>
                <a:latin typeface="Aptos"/>
              </a:defRPr>
            </a:pPr>
            <a:r>
              <a:t>LocalStorage.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789920" cy="50292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l">
              <a:spcAft>
                <a:spcPts val="700"/>
              </a:spcAft>
              <a:defRPr sz="2700" b="1">
                <a:solidFill>
                  <a:srgbClr val="37604D"/>
                </a:solidFill>
                <a:latin typeface="Aptos"/>
              </a:defRPr>
            </a:pPr>
            <a:r>
              <a:t>Project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68680"/>
            <a:ext cx="10515600" cy="32004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l">
              <a:spcAft>
                <a:spcPts val="700"/>
              </a:spcAft>
              <a:defRPr sz="1200" b="0">
                <a:solidFill>
                  <a:srgbClr val="666C63"/>
                </a:solidFill>
                <a:latin typeface="Aptos"/>
              </a:defRPr>
            </a:pPr>
            <a:r>
              <a:t>The needs the application is designed to address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92840" y="384048"/>
            <a:ext cx="320040" cy="73152"/>
          </a:xfrm>
          <a:prstGeom prst="rect">
            <a:avLst/>
          </a:prstGeom>
          <a:solidFill>
            <a:srgbClr val="C36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92840" y="6382512"/>
            <a:ext cx="411480" cy="22860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666C63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417320"/>
            <a:ext cx="731520" cy="50292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l">
              <a:spcAft>
                <a:spcPts val="700"/>
              </a:spcAft>
              <a:defRPr sz="2200" b="1">
                <a:solidFill>
                  <a:srgbClr val="C3694E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417320"/>
            <a:ext cx="3108960" cy="41148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l">
              <a:spcAft>
                <a:spcPts val="700"/>
              </a:spcAft>
              <a:defRPr sz="1800" b="1">
                <a:solidFill>
                  <a:srgbClr val="37604D"/>
                </a:solidFill>
                <a:latin typeface="Aptos"/>
              </a:defRPr>
            </a:pPr>
            <a:r>
              <a:t>Capture meaningful moments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1417320"/>
            <a:ext cx="6126480" cy="54864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l">
              <a:spcAft>
                <a:spcPts val="700"/>
              </a:spcAft>
              <a:defRPr sz="1600" b="0">
                <a:solidFill>
                  <a:srgbClr val="22302B"/>
                </a:solidFill>
                <a:latin typeface="Aptos"/>
              </a:defRPr>
            </a:pPr>
            <a:r>
              <a:t>Save memories, moods, photos, and personal reflections.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130552"/>
            <a:ext cx="10149840" cy="13716"/>
          </a:xfrm>
          <a:prstGeom prst="rect">
            <a:avLst/>
          </a:prstGeom>
          <a:solidFill>
            <a:srgbClr val="E8DD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2560320"/>
            <a:ext cx="731520" cy="50292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l">
              <a:spcAft>
                <a:spcPts val="700"/>
              </a:spcAft>
              <a:defRPr sz="2200" b="1">
                <a:solidFill>
                  <a:srgbClr val="C3694E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560320"/>
            <a:ext cx="3108960" cy="41148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l">
              <a:spcAft>
                <a:spcPts val="700"/>
              </a:spcAft>
              <a:defRPr sz="1800" b="1">
                <a:solidFill>
                  <a:srgbClr val="37604D"/>
                </a:solidFill>
                <a:latin typeface="Aptos"/>
              </a:defRPr>
            </a:pPr>
            <a:r>
              <a:t>Write across 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560320"/>
            <a:ext cx="6126480" cy="54864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l">
              <a:spcAft>
                <a:spcPts val="700"/>
              </a:spcAft>
              <a:defRPr sz="1600" b="0">
                <a:solidFill>
                  <a:srgbClr val="22302B"/>
                </a:solidFill>
                <a:latin typeface="Aptos"/>
              </a:defRPr>
            </a:pPr>
            <a:r>
              <a:t>Create letters to a future self with a selected opening date.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3273552"/>
            <a:ext cx="10149840" cy="13716"/>
          </a:xfrm>
          <a:prstGeom prst="rect">
            <a:avLst/>
          </a:prstGeom>
          <a:solidFill>
            <a:srgbClr val="E8DD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3703320"/>
            <a:ext cx="731520" cy="50292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l">
              <a:spcAft>
                <a:spcPts val="700"/>
              </a:spcAft>
              <a:defRPr sz="2200" b="1">
                <a:solidFill>
                  <a:srgbClr val="C3694E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703320"/>
            <a:ext cx="3108960" cy="41148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l">
              <a:spcAft>
                <a:spcPts val="700"/>
              </a:spcAft>
              <a:defRPr sz="1800" b="1">
                <a:solidFill>
                  <a:srgbClr val="37604D"/>
                </a:solidFill>
                <a:latin typeface="Aptos"/>
              </a:defRPr>
            </a:pPr>
            <a:r>
              <a:t>Build a journaling habit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3703320"/>
            <a:ext cx="6126480" cy="54864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l">
              <a:spcAft>
                <a:spcPts val="700"/>
              </a:spcAft>
              <a:defRPr sz="1600" b="0">
                <a:solidFill>
                  <a:srgbClr val="22302B"/>
                </a:solidFill>
                <a:latin typeface="Aptos"/>
              </a:defRPr>
            </a:pPr>
            <a:r>
              <a:t>Record daily wins, worries, lessons, and gratitude.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4416552"/>
            <a:ext cx="10149840" cy="13716"/>
          </a:xfrm>
          <a:prstGeom prst="rect">
            <a:avLst/>
          </a:prstGeom>
          <a:solidFill>
            <a:srgbClr val="E8DD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4846320"/>
            <a:ext cx="731520" cy="50292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l">
              <a:spcAft>
                <a:spcPts val="700"/>
              </a:spcAft>
              <a:defRPr sz="2200" b="1">
                <a:solidFill>
                  <a:srgbClr val="C3694E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4846320"/>
            <a:ext cx="3108960" cy="41148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l">
              <a:spcAft>
                <a:spcPts val="700"/>
              </a:spcAft>
              <a:defRPr sz="1800" b="1">
                <a:solidFill>
                  <a:srgbClr val="37604D"/>
                </a:solidFill>
                <a:latin typeface="Aptos"/>
              </a:defRPr>
            </a:pPr>
            <a:r>
              <a:t>Encourage reflection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4846320"/>
            <a:ext cx="6126480" cy="54864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l">
              <a:spcAft>
                <a:spcPts val="700"/>
              </a:spcAft>
              <a:defRPr sz="1600" b="0">
                <a:solidFill>
                  <a:srgbClr val="22302B"/>
                </a:solidFill>
                <a:latin typeface="Aptos"/>
              </a:defRPr>
            </a:pPr>
            <a:r>
              <a:t>Revisit memories and consider personal hopes and growth.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5559552"/>
            <a:ext cx="10149840" cy="13716"/>
          </a:xfrm>
          <a:prstGeom prst="rect">
            <a:avLst/>
          </a:prstGeom>
          <a:solidFill>
            <a:srgbClr val="E8DD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789920" cy="50292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l">
              <a:spcAft>
                <a:spcPts val="700"/>
              </a:spcAft>
              <a:defRPr sz="2700" b="1">
                <a:solidFill>
                  <a:srgbClr val="37604D"/>
                </a:solidFill>
                <a:latin typeface="Aptos"/>
              </a:defRPr>
            </a:pPr>
            <a:r>
              <a:t>Modules Implemented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68680"/>
            <a:ext cx="10515600" cy="32004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l">
              <a:spcAft>
                <a:spcPts val="700"/>
              </a:spcAft>
              <a:defRPr sz="1200" b="0">
                <a:solidFill>
                  <a:srgbClr val="666C63"/>
                </a:solidFill>
                <a:latin typeface="Aptos"/>
              </a:defRPr>
            </a:pPr>
            <a:r>
              <a:t>Core features and their purpose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92840" y="384048"/>
            <a:ext cx="320040" cy="73152"/>
          </a:xfrm>
          <a:prstGeom prst="rect">
            <a:avLst/>
          </a:prstGeom>
          <a:solidFill>
            <a:srgbClr val="C36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92840" y="6382512"/>
            <a:ext cx="411480" cy="22860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666C63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383280" cy="1874519"/>
          </a:xfrm>
          <a:prstGeom prst="roundRect">
            <a:avLst/>
          </a:prstGeom>
          <a:solidFill>
            <a:srgbClr val="FFFFFC"/>
          </a:solidFill>
          <a:ln w="12700">
            <a:solidFill>
              <a:srgbClr val="E8DD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96112" y="1572768"/>
            <a:ext cx="73152" cy="347472"/>
          </a:xfrm>
          <a:prstGeom prst="rect">
            <a:avLst/>
          </a:prstGeom>
          <a:solidFill>
            <a:srgbClr val="376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78992" y="1536192"/>
            <a:ext cx="2852928" cy="41148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l">
              <a:spcAft>
                <a:spcPts val="700"/>
              </a:spcAft>
              <a:defRPr sz="1600" b="1">
                <a:solidFill>
                  <a:srgbClr val="37604D"/>
                </a:solidFill>
                <a:latin typeface="Aptos"/>
              </a:defRPr>
            </a:pPr>
            <a:r>
              <a:t>01  Memory Universe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084832"/>
            <a:ext cx="2980944" cy="105156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l">
              <a:spcAft>
                <a:spcPts val="700"/>
              </a:spcAft>
              <a:defRPr sz="1300" b="0">
                <a:solidFill>
                  <a:srgbClr val="22302B"/>
                </a:solidFill>
                <a:latin typeface="Aptos"/>
              </a:defRPr>
            </a:pPr>
            <a:r>
              <a:t>Star-inspired landing experience and navigation.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71600"/>
            <a:ext cx="3383280" cy="1874519"/>
          </a:xfrm>
          <a:prstGeom prst="roundRect">
            <a:avLst/>
          </a:prstGeom>
          <a:solidFill>
            <a:srgbClr val="FFFFFC"/>
          </a:solidFill>
          <a:ln w="12700">
            <a:solidFill>
              <a:srgbClr val="E8DD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53712" y="1572768"/>
            <a:ext cx="73152" cy="347472"/>
          </a:xfrm>
          <a:prstGeom prst="rect">
            <a:avLst/>
          </a:prstGeom>
          <a:solidFill>
            <a:srgbClr val="C36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36592" y="1536192"/>
            <a:ext cx="2852928" cy="41148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l">
              <a:spcAft>
                <a:spcPts val="700"/>
              </a:spcAft>
              <a:defRPr sz="1600" b="1">
                <a:solidFill>
                  <a:srgbClr val="C3694E"/>
                </a:solidFill>
                <a:latin typeface="Aptos"/>
              </a:defRPr>
            </a:pPr>
            <a:r>
              <a:t>02  Memory Garden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084832"/>
            <a:ext cx="2980944" cy="105156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l">
              <a:spcAft>
                <a:spcPts val="700"/>
              </a:spcAft>
              <a:defRPr sz="1300" b="0">
                <a:solidFill>
                  <a:srgbClr val="22302B"/>
                </a:solidFill>
                <a:latin typeface="Aptos"/>
              </a:defRPr>
            </a:pPr>
            <a:r>
              <a:t>Saved memories organized with dates, moods, and visual cards.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371600"/>
            <a:ext cx="3383280" cy="1874519"/>
          </a:xfrm>
          <a:prstGeom prst="roundRect">
            <a:avLst/>
          </a:prstGeom>
          <a:solidFill>
            <a:srgbClr val="FFFFFC"/>
          </a:solidFill>
          <a:ln w="12700">
            <a:solidFill>
              <a:srgbClr val="E8DD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211312" y="1572768"/>
            <a:ext cx="73152" cy="347472"/>
          </a:xfrm>
          <a:prstGeom prst="rect">
            <a:avLst/>
          </a:prstGeom>
          <a:solidFill>
            <a:srgbClr val="AEB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94192" y="1536192"/>
            <a:ext cx="2852928" cy="41148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l">
              <a:spcAft>
                <a:spcPts val="700"/>
              </a:spcAft>
              <a:defRPr sz="1600" b="1">
                <a:solidFill>
                  <a:srgbClr val="AEBEA3"/>
                </a:solidFill>
                <a:latin typeface="Aptos"/>
              </a:defRPr>
            </a:pPr>
            <a:r>
              <a:t>03  Time Capsule Letters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084832"/>
            <a:ext cx="2980944" cy="105156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l">
              <a:spcAft>
                <a:spcPts val="700"/>
              </a:spcAft>
              <a:defRPr sz="1300" b="0">
                <a:solidFill>
                  <a:srgbClr val="22302B"/>
                </a:solidFill>
                <a:latin typeface="Aptos"/>
              </a:defRPr>
            </a:pPr>
            <a:r>
              <a:t>Letters with an opening date and a sealed presentation.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657600"/>
            <a:ext cx="3383280" cy="1874519"/>
          </a:xfrm>
          <a:prstGeom prst="roundRect">
            <a:avLst/>
          </a:prstGeom>
          <a:solidFill>
            <a:srgbClr val="FFFFFC"/>
          </a:solidFill>
          <a:ln w="12700">
            <a:solidFill>
              <a:srgbClr val="E8DD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96112" y="3858768"/>
            <a:ext cx="73152" cy="347472"/>
          </a:xfrm>
          <a:prstGeom prst="rect">
            <a:avLst/>
          </a:prstGeom>
          <a:solidFill>
            <a:srgbClr val="376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78992" y="3822191"/>
            <a:ext cx="2852928" cy="41148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l">
              <a:spcAft>
                <a:spcPts val="700"/>
              </a:spcAft>
              <a:defRPr sz="1600" b="1">
                <a:solidFill>
                  <a:srgbClr val="37604D"/>
                </a:solidFill>
                <a:latin typeface="Aptos"/>
              </a:defRPr>
            </a:pPr>
            <a:r>
              <a:t>04  Daily Feelings Diary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70832"/>
            <a:ext cx="2980944" cy="105156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l">
              <a:spcAft>
                <a:spcPts val="700"/>
              </a:spcAft>
              <a:defRPr sz="1300" b="0">
                <a:solidFill>
                  <a:srgbClr val="22302B"/>
                </a:solidFill>
                <a:latin typeface="Aptos"/>
              </a:defRPr>
            </a:pPr>
            <a:r>
              <a:t>Daily notes for good news, hard moments, lessons, and gratitude.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3657600"/>
            <a:ext cx="3383280" cy="1874519"/>
          </a:xfrm>
          <a:prstGeom prst="roundRect">
            <a:avLst/>
          </a:prstGeom>
          <a:solidFill>
            <a:srgbClr val="FFFFFC"/>
          </a:solidFill>
          <a:ln w="12700">
            <a:solidFill>
              <a:srgbClr val="E8DD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553712" y="3858768"/>
            <a:ext cx="73152" cy="347472"/>
          </a:xfrm>
          <a:prstGeom prst="rect">
            <a:avLst/>
          </a:prstGeom>
          <a:solidFill>
            <a:srgbClr val="C36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736592" y="3822191"/>
            <a:ext cx="2852928" cy="41148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l">
              <a:spcAft>
                <a:spcPts val="700"/>
              </a:spcAft>
              <a:defRPr sz="1600" b="1">
                <a:solidFill>
                  <a:srgbClr val="C3694E"/>
                </a:solidFill>
                <a:latin typeface="Aptos"/>
              </a:defRPr>
            </a:pPr>
            <a:r>
              <a:t>05  Ask Your Future Self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90288" y="4370832"/>
            <a:ext cx="2980944" cy="105156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l">
              <a:spcAft>
                <a:spcPts val="700"/>
              </a:spcAft>
              <a:defRPr sz="1300" b="0">
                <a:solidFill>
                  <a:srgbClr val="22302B"/>
                </a:solidFill>
                <a:latin typeface="Aptos"/>
              </a:defRPr>
            </a:pPr>
            <a:r>
              <a:t>Reflective prompts with answers that can be revisited later.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20" y="3657600"/>
            <a:ext cx="3383280" cy="1874519"/>
          </a:xfrm>
          <a:prstGeom prst="roundRect">
            <a:avLst/>
          </a:prstGeom>
          <a:solidFill>
            <a:srgbClr val="FFFFFC"/>
          </a:solidFill>
          <a:ln w="12700">
            <a:solidFill>
              <a:srgbClr val="E8DD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211312" y="3858768"/>
            <a:ext cx="73152" cy="347472"/>
          </a:xfrm>
          <a:prstGeom prst="rect">
            <a:avLst/>
          </a:prstGeom>
          <a:solidFill>
            <a:srgbClr val="AEB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394192" y="3822191"/>
            <a:ext cx="2852928" cy="41148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l">
              <a:spcAft>
                <a:spcPts val="700"/>
              </a:spcAft>
              <a:defRPr sz="1600" b="1">
                <a:solidFill>
                  <a:srgbClr val="AEBEA3"/>
                </a:solidFill>
                <a:latin typeface="Aptos"/>
              </a:defRPr>
            </a:pPr>
            <a:r>
              <a:t>06  Future Me Quiz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7888" y="4370832"/>
            <a:ext cx="2980944" cy="105156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l">
              <a:spcAft>
                <a:spcPts val="700"/>
              </a:spcAft>
              <a:defRPr sz="1300" b="0">
                <a:solidFill>
                  <a:srgbClr val="22302B"/>
                </a:solidFill>
                <a:latin typeface="Aptos"/>
              </a:defRPr>
            </a:pPr>
            <a:r>
              <a:t>Record predictions about future goals and revisit them later.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789920" cy="50292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l">
              <a:spcAft>
                <a:spcPts val="700"/>
              </a:spcAft>
              <a:defRPr sz="2700" b="1">
                <a:solidFill>
                  <a:srgbClr val="37604D"/>
                </a:solidFill>
                <a:latin typeface="Aptos"/>
              </a:defRPr>
            </a:pPr>
            <a:r>
              <a:t>Technology &amp; Working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68680"/>
            <a:ext cx="10515600" cy="32004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l">
              <a:spcAft>
                <a:spcPts val="700"/>
              </a:spcAft>
              <a:defRPr sz="1200" b="0">
                <a:solidFill>
                  <a:srgbClr val="666C63"/>
                </a:solidFill>
                <a:latin typeface="Aptos"/>
              </a:defRPr>
            </a:pPr>
            <a:r>
              <a:t>How the frontend application is structured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92840" y="384048"/>
            <a:ext cx="320040" cy="73152"/>
          </a:xfrm>
          <a:prstGeom prst="rect">
            <a:avLst/>
          </a:prstGeom>
          <a:solidFill>
            <a:srgbClr val="C36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92840" y="6382512"/>
            <a:ext cx="411480" cy="22860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666C63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965960"/>
            <a:ext cx="2057400" cy="1600200"/>
          </a:xfrm>
          <a:prstGeom prst="roundRect">
            <a:avLst/>
          </a:prstGeom>
          <a:solidFill>
            <a:srgbClr val="FFFFFC"/>
          </a:solidFill>
          <a:ln w="12700">
            <a:solidFill>
              <a:srgbClr val="E8DD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58952" y="2167128"/>
            <a:ext cx="73152" cy="347472"/>
          </a:xfrm>
          <a:prstGeom prst="rect">
            <a:avLst/>
          </a:prstGeom>
          <a:solidFill>
            <a:srgbClr val="376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41832" y="2130552"/>
            <a:ext cx="1527048" cy="41148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l">
              <a:spcAft>
                <a:spcPts val="700"/>
              </a:spcAft>
              <a:defRPr sz="1600" b="1">
                <a:solidFill>
                  <a:srgbClr val="37604D"/>
                </a:solidFill>
                <a:latin typeface="Aptos"/>
              </a:defRPr>
            </a:pPr>
            <a:r>
              <a:t>HTML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2679191"/>
            <a:ext cx="1655064" cy="77724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l">
              <a:spcAft>
                <a:spcPts val="700"/>
              </a:spcAft>
              <a:defRPr sz="1300" b="0">
                <a:solidFill>
                  <a:srgbClr val="22302B"/>
                </a:solidFill>
                <a:latin typeface="Aptos"/>
              </a:defRPr>
            </a:pPr>
            <a:r>
              <a:t>Page structure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79191" y="2514600"/>
            <a:ext cx="256032" cy="36576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ctr">
              <a:spcAft>
                <a:spcPts val="700"/>
              </a:spcAft>
              <a:defRPr sz="2000" b="1">
                <a:solidFill>
                  <a:srgbClr val="C3694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26079" y="1965960"/>
            <a:ext cx="2057400" cy="1600200"/>
          </a:xfrm>
          <a:prstGeom prst="roundRect">
            <a:avLst/>
          </a:prstGeom>
          <a:solidFill>
            <a:srgbClr val="FFFFFC"/>
          </a:solidFill>
          <a:ln w="12700">
            <a:solidFill>
              <a:srgbClr val="E8DD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090672" y="2167128"/>
            <a:ext cx="73152" cy="347472"/>
          </a:xfrm>
          <a:prstGeom prst="rect">
            <a:avLst/>
          </a:prstGeom>
          <a:solidFill>
            <a:srgbClr val="C36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73551" y="2130552"/>
            <a:ext cx="1527048" cy="41148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l">
              <a:spcAft>
                <a:spcPts val="700"/>
              </a:spcAft>
              <a:defRPr sz="1600" b="1">
                <a:solidFill>
                  <a:srgbClr val="C3694E"/>
                </a:solidFill>
                <a:latin typeface="Aptos"/>
              </a:defRPr>
            </a:pPr>
            <a:r>
              <a:t>CSS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27248" y="2679191"/>
            <a:ext cx="1655064" cy="77724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l">
              <a:spcAft>
                <a:spcPts val="700"/>
              </a:spcAft>
              <a:defRPr sz="1300" b="0">
                <a:solidFill>
                  <a:srgbClr val="22302B"/>
                </a:solidFill>
                <a:latin typeface="Aptos"/>
              </a:defRPr>
            </a:pPr>
            <a:r>
              <a:t>Visual 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10912" y="2514600"/>
            <a:ext cx="256032" cy="36576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ctr">
              <a:spcAft>
                <a:spcPts val="700"/>
              </a:spcAft>
              <a:defRPr sz="2000" b="1">
                <a:solidFill>
                  <a:srgbClr val="C3694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57800" y="1965960"/>
            <a:ext cx="2057400" cy="1600200"/>
          </a:xfrm>
          <a:prstGeom prst="roundRect">
            <a:avLst/>
          </a:prstGeom>
          <a:solidFill>
            <a:srgbClr val="FFFFFC"/>
          </a:solidFill>
          <a:ln w="12700">
            <a:solidFill>
              <a:srgbClr val="E8DD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422392" y="2167128"/>
            <a:ext cx="73152" cy="347472"/>
          </a:xfrm>
          <a:prstGeom prst="rect">
            <a:avLst/>
          </a:prstGeom>
          <a:solidFill>
            <a:srgbClr val="AEB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605272" y="2130552"/>
            <a:ext cx="1527048" cy="41148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l">
              <a:spcAft>
                <a:spcPts val="700"/>
              </a:spcAft>
              <a:defRPr sz="1600" b="1">
                <a:solidFill>
                  <a:srgbClr val="AEBEA3"/>
                </a:solidFill>
                <a:latin typeface="Aptos"/>
              </a:defRPr>
            </a:pPr>
            <a:r>
              <a:t>React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58968" y="2679191"/>
            <a:ext cx="1655064" cy="77724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l">
              <a:spcAft>
                <a:spcPts val="700"/>
              </a:spcAft>
              <a:defRPr sz="1300" b="0">
                <a:solidFill>
                  <a:srgbClr val="22302B"/>
                </a:solidFill>
                <a:latin typeface="Aptos"/>
              </a:defRPr>
            </a:pPr>
            <a:r>
              <a:t>Reusable UI components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42631" y="2514600"/>
            <a:ext cx="256032" cy="36576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ctr">
              <a:spcAft>
                <a:spcPts val="700"/>
              </a:spcAft>
              <a:defRPr sz="2000" b="1">
                <a:solidFill>
                  <a:srgbClr val="C3694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89519" y="1965960"/>
            <a:ext cx="2057400" cy="1600200"/>
          </a:xfrm>
          <a:prstGeom prst="roundRect">
            <a:avLst/>
          </a:prstGeom>
          <a:solidFill>
            <a:srgbClr val="FFFFFC"/>
          </a:solidFill>
          <a:ln w="12700">
            <a:solidFill>
              <a:srgbClr val="E8DD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754111" y="2167128"/>
            <a:ext cx="73152" cy="347472"/>
          </a:xfrm>
          <a:prstGeom prst="rect">
            <a:avLst/>
          </a:prstGeom>
          <a:solidFill>
            <a:srgbClr val="376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936992" y="2130552"/>
            <a:ext cx="1527048" cy="41148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l">
              <a:spcAft>
                <a:spcPts val="700"/>
              </a:spcAft>
              <a:defRPr sz="1600" b="1">
                <a:solidFill>
                  <a:srgbClr val="37604D"/>
                </a:solidFill>
                <a:latin typeface="Aptos"/>
              </a:defRPr>
            </a:pPr>
            <a:r>
              <a:t>JavaScript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90688" y="2679191"/>
            <a:ext cx="1655064" cy="77724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l">
              <a:spcAft>
                <a:spcPts val="700"/>
              </a:spcAft>
              <a:defRPr sz="1300" b="0">
                <a:solidFill>
                  <a:srgbClr val="22302B"/>
                </a:solidFill>
                <a:latin typeface="Aptos"/>
              </a:defRPr>
            </a:pPr>
            <a:r>
              <a:t>Interactions and logic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74351" y="2514600"/>
            <a:ext cx="256032" cy="36576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ctr">
              <a:spcAft>
                <a:spcPts val="700"/>
              </a:spcAft>
              <a:defRPr sz="2000" b="1">
                <a:solidFill>
                  <a:srgbClr val="C3694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921240" y="1965960"/>
            <a:ext cx="2057400" cy="1600200"/>
          </a:xfrm>
          <a:prstGeom prst="roundRect">
            <a:avLst/>
          </a:prstGeom>
          <a:solidFill>
            <a:srgbClr val="FFFFFC"/>
          </a:solidFill>
          <a:ln w="12700">
            <a:solidFill>
              <a:srgbClr val="E8DD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0085832" y="2167128"/>
            <a:ext cx="73152" cy="347472"/>
          </a:xfrm>
          <a:prstGeom prst="rect">
            <a:avLst/>
          </a:prstGeom>
          <a:solidFill>
            <a:srgbClr val="C36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268712" y="2130552"/>
            <a:ext cx="1527048" cy="41148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l">
              <a:spcAft>
                <a:spcPts val="700"/>
              </a:spcAft>
              <a:defRPr sz="1600" b="1">
                <a:solidFill>
                  <a:srgbClr val="C3694E"/>
                </a:solidFill>
                <a:latin typeface="Aptos"/>
              </a:defRPr>
            </a:pPr>
            <a:r>
              <a:t>LocalStorage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22408" y="2679191"/>
            <a:ext cx="1655064" cy="77724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l">
              <a:spcAft>
                <a:spcPts val="700"/>
              </a:spcAft>
              <a:defRPr sz="1300" b="0">
                <a:solidFill>
                  <a:srgbClr val="22302B"/>
                </a:solidFill>
                <a:latin typeface="Aptos"/>
              </a:defRPr>
            </a:pPr>
            <a:r>
              <a:t>Browser-side persistence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4389120"/>
            <a:ext cx="10241280" cy="50292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ctr">
              <a:spcAft>
                <a:spcPts val="700"/>
              </a:spcAft>
              <a:defRPr sz="1800" b="1">
                <a:solidFill>
                  <a:srgbClr val="37604D"/>
                </a:solidFill>
                <a:latin typeface="Aptos"/>
              </a:defRPr>
            </a:pPr>
            <a:r>
              <a:t>User input  →  React state  →  LocalStorage  →  Saved entry displayed in the interface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8720" y="5166360"/>
            <a:ext cx="9875520" cy="50292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ctr">
              <a:spcAft>
                <a:spcPts val="700"/>
              </a:spcAft>
              <a:defRPr sz="1400" b="0">
                <a:solidFill>
                  <a:srgbClr val="666C63"/>
                </a:solidFill>
                <a:latin typeface="Aptos"/>
              </a:defRPr>
            </a:pPr>
            <a:r>
              <a:t>The current version does not require a server or cloud database.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789920" cy="50292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l">
              <a:spcAft>
                <a:spcPts val="700"/>
              </a:spcAft>
              <a:defRPr sz="2700" b="1">
                <a:solidFill>
                  <a:srgbClr val="37604D"/>
                </a:solidFill>
                <a:latin typeface="Aptos"/>
              </a:defRPr>
            </a:pPr>
            <a: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68680"/>
            <a:ext cx="10515600" cy="32004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l">
              <a:spcAft>
                <a:spcPts val="700"/>
              </a:spcAft>
              <a:defRPr sz="1200" b="0">
                <a:solidFill>
                  <a:srgbClr val="666C63"/>
                </a:solidFill>
                <a:latin typeface="Aptos"/>
              </a:defRPr>
            </a:pPr>
            <a:r>
              <a:t>What the application is designed to deliver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92840" y="384048"/>
            <a:ext cx="320040" cy="73152"/>
          </a:xfrm>
          <a:prstGeom prst="rect">
            <a:avLst/>
          </a:prstGeom>
          <a:solidFill>
            <a:srgbClr val="C36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92840" y="6382512"/>
            <a:ext cx="411480" cy="22860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666C63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3200400" cy="4343400"/>
          </a:xfrm>
          <a:prstGeom prst="rect">
            <a:avLst/>
          </a:prstGeom>
          <a:solidFill>
            <a:srgbClr val="376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1874519"/>
            <a:ext cx="2560320" cy="41148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l">
              <a:spcAft>
                <a:spcPts val="700"/>
              </a:spcAft>
              <a:defRPr sz="1300" b="1">
                <a:solidFill>
                  <a:srgbClr val="E8DDC9"/>
                </a:solidFill>
                <a:latin typeface="Aptos"/>
              </a:defRPr>
            </a:pPr>
            <a:r>
              <a:t>OUTCOME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468880"/>
            <a:ext cx="2514600" cy="155448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l">
              <a:spcAft>
                <a:spcPts val="700"/>
              </a:spcAft>
              <a:defRPr sz="2600" b="1">
                <a:solidFill>
                  <a:srgbClr val="FFFFFC"/>
                </a:solidFill>
                <a:latin typeface="Aptos"/>
              </a:defRPr>
            </a:pPr>
            <a:r>
              <a:t>One personal</a:t>
            </a:r>
          </a:p>
          <a:p>
            <a:pPr algn="l">
              <a:spcAft>
                <a:spcPts val="700"/>
              </a:spcAft>
              <a:defRPr sz="2600" b="1">
                <a:solidFill>
                  <a:srgbClr val="FFFFFC"/>
                </a:solidFill>
                <a:latin typeface="Aptos"/>
              </a:defRPr>
            </a:pPr>
            <a:r>
              <a:t>space for memories,</a:t>
            </a:r>
          </a:p>
          <a:p>
            <a:pPr algn="l">
              <a:spcAft>
                <a:spcPts val="700"/>
              </a:spcAft>
              <a:defRPr sz="2600" b="1">
                <a:solidFill>
                  <a:srgbClr val="FFFFFC"/>
                </a:solidFill>
                <a:latin typeface="Aptos"/>
              </a:defRPr>
            </a:pPr>
            <a:r>
              <a:t>reflection, and hope.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4709160"/>
            <a:ext cx="2514600" cy="59436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l">
              <a:spcAft>
                <a:spcPts val="700"/>
              </a:spcAft>
              <a:defRPr sz="1200" b="0">
                <a:solidFill>
                  <a:srgbClr val="E8DDC9"/>
                </a:solidFill>
                <a:latin typeface="Aptos"/>
              </a:defRPr>
            </a:pPr>
            <a:r>
              <a:t>Frontend mini project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1645920"/>
            <a:ext cx="6583680" cy="4389120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>
              <a:spcAft>
                <a:spcPts val="1300"/>
              </a:spcAft>
              <a:defRPr sz="1700">
                <a:solidFill>
                  <a:srgbClr val="22302B"/>
                </a:solidFill>
                <a:latin typeface="Aptos"/>
              </a:defRPr>
            </a:pPr>
            <a:r>
              <a:t>•  A single interface brings together diary entries, memories, and future letters.</a:t>
            </a:r>
          </a:p>
          <a:p>
            <a:pPr>
              <a:spcAft>
                <a:spcPts val="1300"/>
              </a:spcAft>
              <a:defRPr sz="1700">
                <a:solidFill>
                  <a:srgbClr val="22302B"/>
                </a:solidFill>
                <a:latin typeface="Aptos"/>
              </a:defRPr>
            </a:pPr>
            <a:r>
              <a:t>•  Dates and moods help users revisit their reflections.</a:t>
            </a:r>
          </a:p>
          <a:p>
            <a:pPr>
              <a:spcAft>
                <a:spcPts val="1300"/>
              </a:spcAft>
              <a:defRPr sz="1700">
                <a:solidFill>
                  <a:srgbClr val="22302B"/>
                </a:solidFill>
                <a:latin typeface="Aptos"/>
              </a:defRPr>
            </a:pPr>
            <a:r>
              <a:t>•  LocalStorage can retain saved data after a refresh in the same browser.</a:t>
            </a:r>
          </a:p>
          <a:p>
            <a:pPr>
              <a:spcAft>
                <a:spcPts val="1300"/>
              </a:spcAft>
              <a:defRPr sz="1700">
                <a:solidFill>
                  <a:srgbClr val="22302B"/>
                </a:solidFill>
                <a:latin typeface="Aptos"/>
              </a:defRPr>
            </a:pPr>
            <a:r>
              <a:t>•  The project demonstrates React components, UI state, and client-side storage.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789920" cy="50292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l">
              <a:spcAft>
                <a:spcPts val="700"/>
              </a:spcAft>
              <a:defRPr sz="2700" b="1">
                <a:solidFill>
                  <a:srgbClr val="37604D"/>
                </a:solidFill>
                <a:latin typeface="Aptos"/>
              </a:defRPr>
            </a:pPr>
            <a:r>
              <a:t>Limitations &amp;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68680"/>
            <a:ext cx="10515600" cy="32004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l">
              <a:spcAft>
                <a:spcPts val="700"/>
              </a:spcAft>
              <a:defRPr sz="1200" b="0">
                <a:solidFill>
                  <a:srgbClr val="666C63"/>
                </a:solidFill>
                <a:latin typeface="Aptos"/>
              </a:defRPr>
            </a:pPr>
            <a:r>
              <a:t>Current boundaries and potential improvements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92840" y="384048"/>
            <a:ext cx="320040" cy="73152"/>
          </a:xfrm>
          <a:prstGeom prst="rect">
            <a:avLst/>
          </a:prstGeom>
          <a:solidFill>
            <a:srgbClr val="C36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92840" y="6382512"/>
            <a:ext cx="411480" cy="22860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666C63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554480"/>
            <a:ext cx="5074920" cy="3886200"/>
          </a:xfrm>
          <a:prstGeom prst="roundRect">
            <a:avLst/>
          </a:prstGeom>
          <a:solidFill>
            <a:srgbClr val="FFFFFC"/>
          </a:solidFill>
          <a:ln w="12700">
            <a:solidFill>
              <a:srgbClr val="E8DD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87552" y="1755648"/>
            <a:ext cx="73152" cy="347472"/>
          </a:xfrm>
          <a:prstGeom prst="rect">
            <a:avLst/>
          </a:prstGeom>
          <a:solidFill>
            <a:srgbClr val="C36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70432" y="1719072"/>
            <a:ext cx="4544568" cy="41148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l">
              <a:spcAft>
                <a:spcPts val="700"/>
              </a:spcAft>
              <a:defRPr sz="1600" b="1">
                <a:solidFill>
                  <a:srgbClr val="C3694E"/>
                </a:solidFill>
                <a:latin typeface="Aptos"/>
              </a:defRPr>
            </a:pPr>
            <a:r>
              <a:t>CURRENT LIMITATIONS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2267712"/>
            <a:ext cx="4672583" cy="306324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l">
              <a:spcAft>
                <a:spcPts val="700"/>
              </a:spcAft>
              <a:defRPr sz="1300" b="0">
                <a:solidFill>
                  <a:srgbClr val="22302B"/>
                </a:solidFill>
                <a:latin typeface="Aptos"/>
              </a:defRPr>
            </a:pPr>
            <a:r>
              <a:t>• Entries remain in the current browser.</a:t>
            </a:r>
          </a:p>
          <a:p>
            <a:pPr algn="l">
              <a:spcAft>
                <a:spcPts val="700"/>
              </a:spcAft>
              <a:defRPr sz="1300" b="0">
                <a:solidFill>
                  <a:srgbClr val="22302B"/>
                </a:solidFill>
                <a:latin typeface="Aptos"/>
              </a:defRPr>
            </a:pPr>
            <a:endParaRPr/>
          </a:p>
          <a:p>
            <a:pPr algn="l">
              <a:spcAft>
                <a:spcPts val="700"/>
              </a:spcAft>
              <a:defRPr sz="1300" b="0">
                <a:solidFill>
                  <a:srgbClr val="22302B"/>
                </a:solidFill>
                <a:latin typeface="Aptos"/>
              </a:defRPr>
            </a:pPr>
            <a:r>
              <a:t>• Clearing browser data can remove saved entries.</a:t>
            </a:r>
          </a:p>
          <a:p>
            <a:pPr algn="l">
              <a:spcAft>
                <a:spcPts val="700"/>
              </a:spcAft>
              <a:defRPr sz="1300" b="0">
                <a:solidFill>
                  <a:srgbClr val="22302B"/>
                </a:solidFill>
                <a:latin typeface="Aptos"/>
              </a:defRPr>
            </a:pPr>
            <a:endParaRPr/>
          </a:p>
          <a:p>
            <a:pPr algn="l">
              <a:spcAft>
                <a:spcPts val="700"/>
              </a:spcAft>
              <a:defRPr sz="1300" b="0">
                <a:solidFill>
                  <a:srgbClr val="22302B"/>
                </a:solidFill>
                <a:latin typeface="Aptos"/>
              </a:defRPr>
            </a:pPr>
            <a:r>
              <a:t>• Date-based locking is a UI feature, not secure encryption.</a:t>
            </a:r>
          </a:p>
          <a:p>
            <a:pPr algn="l">
              <a:spcAft>
                <a:spcPts val="700"/>
              </a:spcAft>
              <a:defRPr sz="1300" b="0">
                <a:solidFill>
                  <a:srgbClr val="22302B"/>
                </a:solidFill>
                <a:latin typeface="Aptos"/>
              </a:defRPr>
            </a:pPr>
            <a:endParaRPr/>
          </a:p>
          <a:p>
            <a:pPr algn="l">
              <a:spcAft>
                <a:spcPts val="700"/>
              </a:spcAft>
              <a:defRPr sz="1300" b="0">
                <a:solidFill>
                  <a:srgbClr val="22302B"/>
                </a:solidFill>
                <a:latin typeface="Aptos"/>
              </a:defRPr>
            </a:pPr>
            <a:r>
              <a:t>• No account login or cross-device sync.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554480"/>
            <a:ext cx="5074920" cy="3886200"/>
          </a:xfrm>
          <a:prstGeom prst="roundRect">
            <a:avLst/>
          </a:prstGeom>
          <a:solidFill>
            <a:srgbClr val="FFFFFC"/>
          </a:solidFill>
          <a:ln w="12700">
            <a:solidFill>
              <a:srgbClr val="E8DD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28231" y="1755648"/>
            <a:ext cx="73152" cy="347472"/>
          </a:xfrm>
          <a:prstGeom prst="rect">
            <a:avLst/>
          </a:prstGeom>
          <a:solidFill>
            <a:srgbClr val="376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11112" y="1719072"/>
            <a:ext cx="4544568" cy="41148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l">
              <a:spcAft>
                <a:spcPts val="700"/>
              </a:spcAft>
              <a:defRPr sz="1600" b="1">
                <a:solidFill>
                  <a:srgbClr val="37604D"/>
                </a:solidFill>
                <a:latin typeface="Aptos"/>
              </a:defRPr>
            </a:pPr>
            <a:r>
              <a:t>FUTURE IMPROVEMENTS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7" y="2267712"/>
            <a:ext cx="4672583" cy="306324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l">
              <a:spcAft>
                <a:spcPts val="700"/>
              </a:spcAft>
              <a:defRPr sz="1300" b="0">
                <a:solidFill>
                  <a:srgbClr val="22302B"/>
                </a:solidFill>
                <a:latin typeface="Aptos"/>
              </a:defRPr>
            </a:pPr>
            <a:r>
              <a:t>• Add user accounts and secure cloud backup.</a:t>
            </a:r>
          </a:p>
          <a:p>
            <a:pPr algn="l">
              <a:spcAft>
                <a:spcPts val="700"/>
              </a:spcAft>
              <a:defRPr sz="1300" b="0">
                <a:solidFill>
                  <a:srgbClr val="22302B"/>
                </a:solidFill>
                <a:latin typeface="Aptos"/>
              </a:defRPr>
            </a:pPr>
            <a:endParaRPr/>
          </a:p>
          <a:p>
            <a:pPr algn="l">
              <a:spcAft>
                <a:spcPts val="700"/>
              </a:spcAft>
              <a:defRPr sz="1300" b="0">
                <a:solidFill>
                  <a:srgbClr val="22302B"/>
                </a:solidFill>
                <a:latin typeface="Aptos"/>
              </a:defRPr>
            </a:pPr>
            <a:r>
              <a:t>• Add import/export for diary entries.</a:t>
            </a:r>
          </a:p>
          <a:p>
            <a:pPr algn="l">
              <a:spcAft>
                <a:spcPts val="700"/>
              </a:spcAft>
              <a:defRPr sz="1300" b="0">
                <a:solidFill>
                  <a:srgbClr val="22302B"/>
                </a:solidFill>
                <a:latin typeface="Aptos"/>
              </a:defRPr>
            </a:pPr>
            <a:endParaRPr/>
          </a:p>
          <a:p>
            <a:pPr algn="l">
              <a:spcAft>
                <a:spcPts val="700"/>
              </a:spcAft>
              <a:defRPr sz="1300" b="0">
                <a:solidFill>
                  <a:srgbClr val="22302B"/>
                </a:solidFill>
                <a:latin typeface="Aptos"/>
              </a:defRPr>
            </a:pPr>
            <a:r>
              <a:t>• Improve accessibility and mobile layouts.</a:t>
            </a:r>
          </a:p>
          <a:p>
            <a:pPr algn="l">
              <a:spcAft>
                <a:spcPts val="700"/>
              </a:spcAft>
              <a:defRPr sz="1300" b="0">
                <a:solidFill>
                  <a:srgbClr val="22302B"/>
                </a:solidFill>
                <a:latin typeface="Aptos"/>
              </a:defRPr>
            </a:pPr>
            <a:endParaRPr/>
          </a:p>
          <a:p>
            <a:pPr algn="l">
              <a:spcAft>
                <a:spcPts val="700"/>
              </a:spcAft>
              <a:defRPr sz="1300" b="0">
                <a:solidFill>
                  <a:srgbClr val="22302B"/>
                </a:solidFill>
                <a:latin typeface="Aptos"/>
              </a:defRPr>
            </a:pPr>
            <a:r>
              <a:t>• Add reminders for letter opening dates.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303520"/>
            <a:ext cx="12191695" cy="1554480"/>
          </a:xfrm>
          <a:prstGeom prst="rect">
            <a:avLst/>
          </a:prstGeom>
          <a:solidFill>
            <a:srgbClr val="376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822960"/>
            <a:ext cx="10515600" cy="36576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l">
              <a:spcAft>
                <a:spcPts val="700"/>
              </a:spcAft>
              <a:defRPr sz="1300" b="1">
                <a:solidFill>
                  <a:srgbClr val="C3694E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508760"/>
            <a:ext cx="9601200" cy="82296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l">
              <a:spcAft>
                <a:spcPts val="700"/>
              </a:spcAft>
              <a:defRPr sz="3200" b="1">
                <a:solidFill>
                  <a:srgbClr val="22302B"/>
                </a:solidFill>
                <a:latin typeface="Aptos"/>
              </a:defRPr>
            </a:pPr>
            <a:r>
              <a:t>Everyday moments deserve a place to live.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2606040"/>
            <a:ext cx="8961120" cy="100584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l">
              <a:spcAft>
                <a:spcPts val="700"/>
              </a:spcAft>
              <a:defRPr sz="1900" b="0">
                <a:solidFill>
                  <a:srgbClr val="666C63"/>
                </a:solidFill>
                <a:latin typeface="Aptos"/>
              </a:defRPr>
            </a:pPr>
            <a:r>
              <a:t>Dear Future Me brings memories, journaling, and future-facing letters together in a simple digital experience that encourages reflection and personal growth.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669280"/>
            <a:ext cx="7315200" cy="41148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l">
              <a:spcAft>
                <a:spcPts val="700"/>
              </a:spcAft>
              <a:defRPr sz="1800" b="1">
                <a:solidFill>
                  <a:srgbClr val="FFFFFC"/>
                </a:solidFill>
                <a:latin typeface="Aptos"/>
              </a:defRPr>
            </a:pPr>
            <a:r>
              <a:t>THANK YOU  /  Questions?</a:t>
            </a:r>
          </a:p>
        </p:txBody>
      </p:sp>
      <p:sp>
        <p:nvSpPr>
          <p:cNvPr id="7" name="Oval 6"/>
          <p:cNvSpPr/>
          <p:nvPr/>
        </p:nvSpPr>
        <p:spPr>
          <a:xfrm>
            <a:off x="9692640" y="1097280"/>
            <a:ext cx="1051560" cy="1051560"/>
          </a:xfrm>
          <a:prstGeom prst="ellipse">
            <a:avLst/>
          </a:prstGeom>
          <a:solidFill>
            <a:srgbClr val="AEBEA3"/>
          </a:solidFill>
          <a:ln w="12700">
            <a:solidFill>
              <a:srgbClr val="F8F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378440" y="1874519"/>
            <a:ext cx="1188720" cy="1188720"/>
          </a:xfrm>
          <a:prstGeom prst="ellipse">
            <a:avLst/>
          </a:prstGeom>
          <a:solidFill>
            <a:srgbClr val="C3694E"/>
          </a:solidFill>
          <a:ln w="12700">
            <a:solidFill>
              <a:srgbClr val="F8F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144000" y="2468880"/>
            <a:ext cx="1371600" cy="1371600"/>
          </a:xfrm>
          <a:prstGeom prst="ellipse">
            <a:avLst/>
          </a:prstGeom>
          <a:solidFill>
            <a:srgbClr val="E8DDC9"/>
          </a:solidFill>
          <a:ln w="12700">
            <a:solidFill>
              <a:srgbClr val="F8F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0287000" y="3383280"/>
            <a:ext cx="1051560" cy="1051560"/>
          </a:xfrm>
          <a:prstGeom prst="ellipse">
            <a:avLst/>
          </a:prstGeom>
          <a:solidFill>
            <a:srgbClr val="37604D"/>
          </a:solidFill>
          <a:ln w="12700">
            <a:solidFill>
              <a:srgbClr val="F8F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541</Words>
  <Application>Microsoft Office PowerPoint</Application>
  <PresentationFormat>Widescreen</PresentationFormat>
  <Paragraphs>102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USER</dc:creator>
  <cp:keywords/>
  <dc:description>generated using python-pptx</dc:description>
  <cp:lastModifiedBy>Abirami Lakshmanan</cp:lastModifiedBy>
  <cp:revision>2</cp:revision>
  <dcterms:created xsi:type="dcterms:W3CDTF">2013-01-27T09:14:16Z</dcterms:created>
  <dcterms:modified xsi:type="dcterms:W3CDTF">2026-10-12T08:53:04Z</dcterms:modified>
  <cp:category/>
</cp:coreProperties>
</file>